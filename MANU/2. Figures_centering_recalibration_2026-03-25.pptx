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383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00" userDrawn="1">
          <p15:clr>
            <a:srgbClr val="A4A3A4"/>
          </p15:clr>
        </p15:guide>
        <p15:guide id="2" orient="horz" userDrawn="1">
          <p15:clr>
            <a:srgbClr val="A4A3A4"/>
          </p15:clr>
        </p15:guide>
        <p15:guide id="3" pos="21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AB9310-735A-D665-616D-51EA9BE8341B}" name="Juan Li" initials="JL" userId="S::juli@ohri.ca::be45ae26-5bd3-4343-afb3-99032b3d8c00" providerId="AD"/>
  <p188:author id="{FC7F8426-DC97-76F0-90DD-3D4897333B79}" name="Michael Schlossmacher" initials="MS" userId="S::mschlossmacher@ohri.ca::0762668c-fa4f-47d0-a25b-3325e77f06e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Li" initials="JL" lastIdx="21" clrIdx="0">
    <p:extLst>
      <p:ext uri="{19B8F6BF-5375-455C-9EA6-DF929625EA0E}">
        <p15:presenceInfo xmlns:p15="http://schemas.microsoft.com/office/powerpoint/2012/main" userId="9f9fee6574063eb3" providerId="Windows Live"/>
      </p:ext>
    </p:extLst>
  </p:cmAuthor>
  <p:cmAuthor id="2" name="Michael Schlossmacher" initials="MS" lastIdx="4" clrIdx="1">
    <p:extLst>
      <p:ext uri="{19B8F6BF-5375-455C-9EA6-DF929625EA0E}">
        <p15:presenceInfo xmlns:p15="http://schemas.microsoft.com/office/powerpoint/2012/main" userId="S::mschlossmacher@ohri.ca::0762668c-fa4f-47d0-a25b-3325e77f06e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4ED"/>
    <a:srgbClr val="B884AE"/>
    <a:srgbClr val="551A8B"/>
    <a:srgbClr val="B67AC0"/>
    <a:srgbClr val="B57AC0"/>
    <a:srgbClr val="17B12A"/>
    <a:srgbClr val="467FFF"/>
    <a:srgbClr val="F2514D"/>
    <a:srgbClr val="FB5AF3"/>
    <a:srgbClr val="DA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959" autoAdjust="0"/>
    <p:restoredTop sz="97638"/>
  </p:normalViewPr>
  <p:slideViewPr>
    <p:cSldViewPr snapToGrid="0" showGuides="1">
      <p:cViewPr varScale="1">
        <p:scale>
          <a:sx n="91" d="100"/>
          <a:sy n="91" d="100"/>
        </p:scale>
        <p:origin x="3536" y="184"/>
      </p:cViewPr>
      <p:guideLst>
        <p:guide orient="horz" pos="5200"/>
        <p:guide orient="horz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9B799-C767-B54C-976F-225EE1A1BEBD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7904C-5C6E-9143-9FA4-1138E35E5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84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1448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1pPr>
    <a:lvl2pPr marL="425723" algn="l" defTabSz="851448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2pPr>
    <a:lvl3pPr marL="851448" algn="l" defTabSz="851448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3pPr>
    <a:lvl4pPr marL="1277172" algn="l" defTabSz="851448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4pPr>
    <a:lvl5pPr marL="1702895" algn="l" defTabSz="851448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5pPr>
    <a:lvl6pPr marL="2128619" algn="l" defTabSz="851448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6pPr>
    <a:lvl7pPr marL="2554343" algn="l" defTabSz="851448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7pPr>
    <a:lvl8pPr marL="2980067" algn="l" defTabSz="851448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8pPr>
    <a:lvl9pPr marL="3405790" algn="l" defTabSz="851448" rtl="0" eaLnBrk="1" latinLnBrk="0" hangingPunct="1">
      <a:defRPr sz="111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7DE5B-7043-6E1C-A8E8-B903AA9D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EEBFF-931A-31F9-6445-7E6D929D5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FBF06-6BFD-CC86-1AC5-8D749C59F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78D8F-AE80-3175-C7AD-E075A2CBE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7904C-5C6E-9143-9FA4-1138E35E56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02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6BD4-E29D-4ED0-9FE7-27A8ADDD826D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64F3-8692-401B-B64B-11803D3B722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121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6BD4-E29D-4ED0-9FE7-27A8ADDD826D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64F3-8692-401B-B64B-11803D3B722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4937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6BD4-E29D-4ED0-9FE7-27A8ADDD826D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64F3-8692-401B-B64B-11803D3B722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1960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6BD4-E29D-4ED0-9FE7-27A8ADDD826D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64F3-8692-401B-B64B-11803D3B722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3391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6BD4-E29D-4ED0-9FE7-27A8ADDD826D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64F3-8692-401B-B64B-11803D3B722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7070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6BD4-E29D-4ED0-9FE7-27A8ADDD826D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64F3-8692-401B-B64B-11803D3B722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301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6BD4-E29D-4ED0-9FE7-27A8ADDD826D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64F3-8692-401B-B64B-11803D3B722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552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6BD4-E29D-4ED0-9FE7-27A8ADDD826D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64F3-8692-401B-B64B-11803D3B722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7220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6BD4-E29D-4ED0-9FE7-27A8ADDD826D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64F3-8692-401B-B64B-11803D3B722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832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6BD4-E29D-4ED0-9FE7-27A8ADDD826D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64F3-8692-401B-B64B-11803D3B722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904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6BD4-E29D-4ED0-9FE7-27A8ADDD826D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64F3-8692-401B-B64B-11803D3B722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5686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76BD4-E29D-4ED0-9FE7-27A8ADDD826D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364F3-8692-401B-B64B-11803D3B722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5778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EAC5F-8AA1-19FC-79BA-5FF7A0F29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9EC973-A69F-3126-B2AB-4F0AE980A41A}"/>
              </a:ext>
            </a:extLst>
          </p:cNvPr>
          <p:cNvSpPr txBox="1"/>
          <p:nvPr/>
        </p:nvSpPr>
        <p:spPr>
          <a:xfrm>
            <a:off x="132560" y="7447681"/>
            <a:ext cx="6552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and recruitment summary of the Ottawa-based </a:t>
            </a:r>
            <a:r>
              <a:rPr lang="en-CA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CA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CA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EDIGT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Trial</a:t>
            </a:r>
          </a:p>
          <a:p>
            <a:pPr algn="just"/>
            <a:r>
              <a:rPr lang="en-US" sz="1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UPSIT = University of Pennsylvania Smell Identification Test</a:t>
            </a:r>
            <a:r>
              <a:rPr lang="en-CA" sz="1000" dirty="0">
                <a:solidFill>
                  <a:srgbClr val="3F3F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CA" sz="1000" dirty="0">
              <a:solidFill>
                <a:srgbClr val="3F3F3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raphic 2" descr="Document with solid fill">
            <a:extLst>
              <a:ext uri="{FF2B5EF4-FFF2-40B4-BE49-F238E27FC236}">
                <a16:creationId xmlns:a16="http://schemas.microsoft.com/office/drawing/2014/main" id="{329BED43-E8BF-88D8-3F68-F3F6A81B91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370" y="883464"/>
            <a:ext cx="357628" cy="357628"/>
          </a:xfrm>
          <a:prstGeom prst="rect">
            <a:avLst/>
          </a:prstGeom>
        </p:spPr>
      </p:pic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B11F1FBC-F16F-DDC3-488C-1B1023C7F8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2025" y="883464"/>
            <a:ext cx="357628" cy="357628"/>
          </a:xfrm>
          <a:prstGeom prst="rect">
            <a:avLst/>
          </a:prstGeom>
        </p:spPr>
      </p:pic>
      <p:pic>
        <p:nvPicPr>
          <p:cNvPr id="6" name="Graphic 5" descr="Nose outline">
            <a:extLst>
              <a:ext uri="{FF2B5EF4-FFF2-40B4-BE49-F238E27FC236}">
                <a16:creationId xmlns:a16="http://schemas.microsoft.com/office/drawing/2014/main" id="{F6CD4613-B849-F2DB-2479-26529E6414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3705" y="884621"/>
            <a:ext cx="357628" cy="3576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208D9A-0530-FBD7-CB81-47ED6312952F}"/>
              </a:ext>
            </a:extLst>
          </p:cNvPr>
          <p:cNvSpPr txBox="1"/>
          <p:nvPr/>
        </p:nvSpPr>
        <p:spPr>
          <a:xfrm>
            <a:off x="199359" y="1315723"/>
            <a:ext cx="1479600" cy="526674"/>
          </a:xfrm>
          <a:prstGeom prst="rect">
            <a:avLst/>
          </a:prstGeom>
          <a:solidFill>
            <a:srgbClr val="B884AE">
              <a:alpha val="23922"/>
            </a:srgbClr>
          </a:solidFill>
          <a:ln>
            <a:solidFill>
              <a:srgbClr val="B57AC0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613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Subjects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were invited to participate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D58D7-3BAB-0F57-E2E3-117414123730}"/>
              </a:ext>
            </a:extLst>
          </p:cNvPr>
          <p:cNvSpPr txBox="1"/>
          <p:nvPr/>
        </p:nvSpPr>
        <p:spPr>
          <a:xfrm>
            <a:off x="1731039" y="1315722"/>
            <a:ext cx="1479600" cy="665173"/>
          </a:xfrm>
          <a:prstGeom prst="rect">
            <a:avLst/>
          </a:prstGeom>
          <a:solidFill>
            <a:srgbClr val="B884AE">
              <a:alpha val="23922"/>
            </a:srgbClr>
          </a:solidFill>
          <a:ln>
            <a:solidFill>
              <a:srgbClr val="B57AC0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324</a:t>
            </a:r>
          </a:p>
          <a:p>
            <a:pPr algn="ctr">
              <a:spcAft>
                <a:spcPts val="300"/>
              </a:spcAft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Participants began 69-item questionnaire and enrolled through implied consent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8B9613-4B2F-92D0-18CF-37E6A7F5CEC4}"/>
              </a:ext>
            </a:extLst>
          </p:cNvPr>
          <p:cNvSpPr txBox="1"/>
          <p:nvPr/>
        </p:nvSpPr>
        <p:spPr>
          <a:xfrm>
            <a:off x="201241" y="3896924"/>
            <a:ext cx="6074112" cy="257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lvl="0" algn="ctr"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235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participants completed the </a:t>
            </a:r>
            <a:r>
              <a:rPr lang="en-US" sz="1200" i="1" dirty="0">
                <a:latin typeface="Calibri" panose="020F0502020204030204" pitchFamily="34" charset="0"/>
                <a:cs typeface="Calibri" panose="020F0502020204030204" pitchFamily="34" charset="0"/>
              </a:rPr>
              <a:t>original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questionnaire and smell test at phase 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5EB287-C8F5-605A-6D14-8378133C0D2C}"/>
              </a:ext>
            </a:extLst>
          </p:cNvPr>
          <p:cNvSpPr/>
          <p:nvPr/>
        </p:nvSpPr>
        <p:spPr>
          <a:xfrm>
            <a:off x="133337" y="357390"/>
            <a:ext cx="6199675" cy="3882423"/>
          </a:xfrm>
          <a:prstGeom prst="rect">
            <a:avLst/>
          </a:prstGeom>
          <a:noFill/>
          <a:ln w="19050" cap="flat" cmpd="sng" algn="ctr">
            <a:solidFill>
              <a:srgbClr val="723C7D">
                <a:lumMod val="60000"/>
                <a:lumOff val="4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8C52A0-2CA2-1FAA-B627-F3ED43AD27B3}"/>
              </a:ext>
            </a:extLst>
          </p:cNvPr>
          <p:cNvSpPr txBox="1"/>
          <p:nvPr/>
        </p:nvSpPr>
        <p:spPr>
          <a:xfrm>
            <a:off x="137058" y="207273"/>
            <a:ext cx="6199200" cy="553998"/>
          </a:xfrm>
          <a:prstGeom prst="rect">
            <a:avLst/>
          </a:prstGeom>
          <a:solidFill>
            <a:srgbClr val="EEE4ED"/>
          </a:solidFill>
          <a:ln w="19050">
            <a:solidFill>
              <a:srgbClr val="B57AC0"/>
            </a:solidFill>
          </a:ln>
        </p:spPr>
        <p:txBody>
          <a:bodyPr wrap="square">
            <a:spAutoFit/>
          </a:bodyPr>
          <a:lstStyle/>
          <a:p>
            <a:pPr algn="ctr" defTabSz="457200">
              <a:buClrTx/>
              <a:buFontTx/>
              <a:buNone/>
            </a:pPr>
            <a:r>
              <a:rPr lang="en-US" sz="1000" b="1" kern="1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Phase I: </a:t>
            </a:r>
            <a:r>
              <a:rPr lang="en-US" sz="1000" kern="1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Comprehensive questionnaire 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1000" kern="1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40-scent smell test</a:t>
            </a:r>
          </a:p>
          <a:p>
            <a:pPr algn="ctr" defTabSz="457200">
              <a:buClrTx/>
              <a:buFontTx/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1000" kern="1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ssessment of </a:t>
            </a:r>
            <a:r>
              <a:rPr lang="en-US" sz="1000" i="1" u="sng" kern="1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original</a:t>
            </a:r>
            <a:r>
              <a:rPr lang="en-US" sz="1000" kern="1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toolkit </a:t>
            </a:r>
          </a:p>
          <a:p>
            <a:pPr algn="ctr" defTabSz="457200">
              <a:buClrTx/>
              <a:buFontTx/>
              <a:buNone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Data collection: February 2022 to September 2024</a:t>
            </a:r>
            <a:endParaRPr lang="en-US" sz="1000" kern="12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889689-5616-7374-1887-0364C3482ADD}"/>
              </a:ext>
            </a:extLst>
          </p:cNvPr>
          <p:cNvSpPr txBox="1"/>
          <p:nvPr/>
        </p:nvSpPr>
        <p:spPr>
          <a:xfrm>
            <a:off x="4813557" y="1315722"/>
            <a:ext cx="1454432" cy="1157616"/>
          </a:xfrm>
          <a:prstGeom prst="rect">
            <a:avLst/>
          </a:prstGeom>
          <a:solidFill>
            <a:srgbClr val="B884AE">
              <a:alpha val="23922"/>
            </a:srgbClr>
          </a:solidFill>
          <a:ln>
            <a:solidFill>
              <a:srgbClr val="B57AC0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45720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Calculation of:</a:t>
            </a:r>
          </a:p>
          <a:p>
            <a:pPr marL="136525" marR="0" lvl="0" indent="-136525" defTabSz="45720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 typeface="+mj-lt"/>
              <a:buAutoNum type="arabicPeriod"/>
              <a:defRPr/>
            </a:pPr>
            <a:r>
              <a:rPr lang="en-US" sz="900" u="sng" dirty="0">
                <a:latin typeface="Calibri" panose="020F0502020204030204" pitchFamily="34" charset="0"/>
                <a:cs typeface="Calibri" panose="020F0502020204030204" pitchFamily="34" charset="0"/>
              </a:rPr>
              <a:t>Original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questionnaire score</a:t>
            </a:r>
          </a:p>
          <a:p>
            <a:pPr marL="136525" marR="0" lvl="0" indent="-136525" defTabSz="45720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sz="9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UPSIT score</a:t>
            </a:r>
          </a:p>
          <a:p>
            <a:pPr marL="136525" marR="0" lvl="0" indent="-136525" defTabSz="457200" eaLnBrk="1" fontAlgn="auto" latinLnBrk="0" hangingPunct="1">
              <a:spcBef>
                <a:spcPts val="0"/>
              </a:spcBef>
              <a:spcAft>
                <a:spcPts val="30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Summary score using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formula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(see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Table 3</a:t>
            </a:r>
            <a:r>
              <a:rPr kumimoji="0" lang="en-US" sz="9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31" name="Graphic 30" descr="Calculator with solid fill">
            <a:extLst>
              <a:ext uri="{FF2B5EF4-FFF2-40B4-BE49-F238E27FC236}">
                <a16:creationId xmlns:a16="http://schemas.microsoft.com/office/drawing/2014/main" id="{FC038AE4-3557-CDF6-00BE-726A1E6251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55735" y="884692"/>
            <a:ext cx="356400" cy="356400"/>
          </a:xfrm>
          <a:prstGeom prst="rect">
            <a:avLst/>
          </a:prstGeom>
        </p:spPr>
      </p:pic>
      <p:pic>
        <p:nvPicPr>
          <p:cNvPr id="32" name="Graphic 31" descr="Document with solid fill">
            <a:extLst>
              <a:ext uri="{FF2B5EF4-FFF2-40B4-BE49-F238E27FC236}">
                <a16:creationId xmlns:a16="http://schemas.microsoft.com/office/drawing/2014/main" id="{CC9F8CEE-6C47-08BB-5EED-3E58C4548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8316" y="5079344"/>
            <a:ext cx="357628" cy="357628"/>
          </a:xfrm>
          <a:prstGeom prst="rect">
            <a:avLst/>
          </a:prstGeom>
        </p:spPr>
      </p:pic>
      <p:pic>
        <p:nvPicPr>
          <p:cNvPr id="33" name="Graphic 32" descr="Programmer male with solid fill">
            <a:extLst>
              <a:ext uri="{FF2B5EF4-FFF2-40B4-BE49-F238E27FC236}">
                <a16:creationId xmlns:a16="http://schemas.microsoft.com/office/drawing/2014/main" id="{14A7FBC1-1AE0-323A-9355-2F11C641C3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9996" y="5079344"/>
            <a:ext cx="357628" cy="357628"/>
          </a:xfrm>
          <a:prstGeom prst="rect">
            <a:avLst/>
          </a:prstGeom>
        </p:spPr>
      </p:pic>
      <p:pic>
        <p:nvPicPr>
          <p:cNvPr id="34" name="Graphic 33" descr="Nose outline">
            <a:extLst>
              <a:ext uri="{FF2B5EF4-FFF2-40B4-BE49-F238E27FC236}">
                <a16:creationId xmlns:a16="http://schemas.microsoft.com/office/drawing/2014/main" id="{330CFC32-FC5F-0CD0-F8B7-5FBC5EEABD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21676" y="5080501"/>
            <a:ext cx="357628" cy="35762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154F657-964B-BBB6-164F-01820D34BB3E}"/>
              </a:ext>
            </a:extLst>
          </p:cNvPr>
          <p:cNvSpPr txBox="1"/>
          <p:nvPr/>
        </p:nvSpPr>
        <p:spPr>
          <a:xfrm>
            <a:off x="1729010" y="5511602"/>
            <a:ext cx="1479600" cy="5266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165</a:t>
            </a:r>
          </a:p>
          <a:p>
            <a:pPr algn="ctr">
              <a:spcAft>
                <a:spcPts val="300"/>
              </a:spcAft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Participants completed additional questions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793915-BDA7-01C7-75BA-91F12D1C1DC5}"/>
              </a:ext>
            </a:extLst>
          </p:cNvPr>
          <p:cNvSpPr txBox="1"/>
          <p:nvPr/>
        </p:nvSpPr>
        <p:spPr>
          <a:xfrm>
            <a:off x="3260690" y="5511602"/>
            <a:ext cx="1479600" cy="5266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208</a:t>
            </a:r>
          </a:p>
          <a:p>
            <a:pPr algn="ctr">
              <a:spcAft>
                <a:spcPts val="300"/>
              </a:spcAft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Simplified smell tests were mailed to participants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2284C9-86F5-0DE8-F458-36C0C1D2B198}"/>
              </a:ext>
            </a:extLst>
          </p:cNvPr>
          <p:cNvSpPr txBox="1"/>
          <p:nvPr/>
        </p:nvSpPr>
        <p:spPr>
          <a:xfrm>
            <a:off x="195756" y="6885026"/>
            <a:ext cx="6074112" cy="257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lvl="0" algn="ctr"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165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participants completed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200" i="1" dirty="0">
                <a:latin typeface="Calibri" panose="020F0502020204030204" pitchFamily="34" charset="0"/>
                <a:cs typeface="Calibri" panose="020F0502020204030204" pitchFamily="34" charset="0"/>
              </a:rPr>
              <a:t>simplified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questionnaire and smell test at phase II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7E18C27-57EE-15CF-C60A-9A5C3BA66D37}"/>
              </a:ext>
            </a:extLst>
          </p:cNvPr>
          <p:cNvSpPr/>
          <p:nvPr/>
        </p:nvSpPr>
        <p:spPr>
          <a:xfrm>
            <a:off x="132561" y="4534192"/>
            <a:ext cx="6199675" cy="2702084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225AA4-ADA5-FE65-5D74-C57ECD4F4EE5}"/>
              </a:ext>
            </a:extLst>
          </p:cNvPr>
          <p:cNvSpPr txBox="1"/>
          <p:nvPr/>
        </p:nvSpPr>
        <p:spPr>
          <a:xfrm>
            <a:off x="137058" y="4384598"/>
            <a:ext cx="6199200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Phase II: 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Abbreviated questionnaire and 8-scent smell test</a:t>
            </a:r>
          </a:p>
          <a:p>
            <a:pPr algn="ctr"/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Assessment 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lang="en-US" sz="1000" i="1" u="sng" dirty="0">
                <a:latin typeface="Calibri" panose="020F0502020204030204" pitchFamily="34" charset="0"/>
                <a:cs typeface="Calibri" panose="020F0502020204030204" pitchFamily="34" charset="0"/>
              </a:rPr>
              <a:t>simplified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toolkit</a:t>
            </a:r>
          </a:p>
          <a:p>
            <a:pPr algn="ctr"/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Data collection period: April 2024 to September 2024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007CD9-81ED-3684-EB70-1AEB93F4BC45}"/>
              </a:ext>
            </a:extLst>
          </p:cNvPr>
          <p:cNvSpPr txBox="1"/>
          <p:nvPr/>
        </p:nvSpPr>
        <p:spPr>
          <a:xfrm>
            <a:off x="4792370" y="5516005"/>
            <a:ext cx="1479072" cy="11576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Calculation of:</a:t>
            </a:r>
          </a:p>
          <a:p>
            <a:pPr marL="136525" marR="0" lvl="0" indent="-136525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+mj-lt"/>
              <a:buAutoNum type="arabicPeriod"/>
              <a:defRPr/>
            </a:pPr>
            <a:r>
              <a:rPr lang="en-US" sz="900" u="sng" dirty="0">
                <a:latin typeface="Calibri" panose="020F0502020204030204" pitchFamily="34" charset="0"/>
                <a:cs typeface="Calibri" panose="020F0502020204030204" pitchFamily="34" charset="0"/>
              </a:rPr>
              <a:t>Simplified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questionnaire score</a:t>
            </a:r>
          </a:p>
          <a:p>
            <a:pPr marL="136525" marR="0" lvl="0" indent="-136525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+mj-lt"/>
              <a:buAutoNum type="arabicPeriod"/>
              <a:defRPr/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8-scent smell test </a:t>
            </a:r>
            <a:r>
              <a:rPr kumimoji="0" lang="en-US" sz="9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score</a:t>
            </a:r>
          </a:p>
          <a:p>
            <a:pPr marL="136525" lvl="0" indent="-136525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Summary score using logistic regression formula (see </a:t>
            </a: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Table 3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pic>
        <p:nvPicPr>
          <p:cNvPr id="42" name="Graphic 41" descr="Calculator with solid fill">
            <a:extLst>
              <a:ext uri="{FF2B5EF4-FFF2-40B4-BE49-F238E27FC236}">
                <a16:creationId xmlns:a16="http://schemas.microsoft.com/office/drawing/2014/main" id="{651AFCA6-E620-3DF5-7E3A-9ECEABD8F7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53706" y="5080572"/>
            <a:ext cx="356400" cy="356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57DE8D-2580-4E7E-E2D6-B535E0906016}"/>
              </a:ext>
            </a:extLst>
          </p:cNvPr>
          <p:cNvSpPr txBox="1"/>
          <p:nvPr/>
        </p:nvSpPr>
        <p:spPr>
          <a:xfrm>
            <a:off x="1726421" y="2261948"/>
            <a:ext cx="1479600" cy="665173"/>
          </a:xfrm>
          <a:prstGeom prst="rect">
            <a:avLst/>
          </a:prstGeom>
          <a:solidFill>
            <a:srgbClr val="B884AE">
              <a:alpha val="23922"/>
            </a:srgbClr>
          </a:solidFill>
          <a:ln>
            <a:solidFill>
              <a:srgbClr val="B57AC0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308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(95.1%)</a:t>
            </a:r>
          </a:p>
          <a:p>
            <a:pPr algn="ctr">
              <a:spcAft>
                <a:spcPts val="300"/>
              </a:spcAft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Participants completed all P</a:t>
            </a:r>
            <a:r>
              <a:rPr lang="en-US" sz="9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EDIGT score-related questions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F6BA916-28B9-1D71-1BD6-6A21A598EE13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2469931" y="1980895"/>
            <a:ext cx="908" cy="281053"/>
          </a:xfrm>
          <a:prstGeom prst="straightConnector1">
            <a:avLst/>
          </a:prstGeom>
          <a:ln w="12700">
            <a:solidFill>
              <a:srgbClr val="B67A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E529887-60BF-3FBF-3D86-31C913A67590}"/>
              </a:ext>
            </a:extLst>
          </p:cNvPr>
          <p:cNvSpPr txBox="1"/>
          <p:nvPr/>
        </p:nvSpPr>
        <p:spPr>
          <a:xfrm>
            <a:off x="1726421" y="3214340"/>
            <a:ext cx="1479600" cy="526674"/>
          </a:xfrm>
          <a:prstGeom prst="rect">
            <a:avLst/>
          </a:prstGeom>
          <a:solidFill>
            <a:srgbClr val="B884AE">
              <a:alpha val="23922"/>
            </a:srgbClr>
          </a:solidFill>
          <a:ln>
            <a:solidFill>
              <a:srgbClr val="B57AC0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305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(94.1%)</a:t>
            </a:r>
            <a:endParaRPr lang="en-US" sz="9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spcAft>
                <a:spcPts val="300"/>
              </a:spcAft>
              <a:defRPr/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Participants’ data retained for statistical analyses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A6AA05-6852-32B2-E157-E351DC72E006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2466221" y="2923098"/>
            <a:ext cx="908" cy="291242"/>
          </a:xfrm>
          <a:prstGeom prst="straightConnector1">
            <a:avLst/>
          </a:prstGeom>
          <a:ln w="12700">
            <a:solidFill>
              <a:srgbClr val="B67A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7465D9-4D74-541D-D62A-211AC482AC26}"/>
              </a:ext>
            </a:extLst>
          </p:cNvPr>
          <p:cNvCxnSpPr>
            <a:cxnSpLocks/>
            <a:endCxn id="45" idx="3"/>
          </p:cNvCxnSpPr>
          <p:nvPr/>
        </p:nvCxnSpPr>
        <p:spPr>
          <a:xfrm flipH="1">
            <a:off x="1678959" y="3044863"/>
            <a:ext cx="787262" cy="0"/>
          </a:xfrm>
          <a:prstGeom prst="straightConnector1">
            <a:avLst/>
          </a:prstGeom>
          <a:ln w="12700">
            <a:solidFill>
              <a:srgbClr val="B67A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DEF7AE0-5FAE-3850-80B1-BA6771683BAB}"/>
              </a:ext>
            </a:extLst>
          </p:cNvPr>
          <p:cNvSpPr txBox="1"/>
          <p:nvPr/>
        </p:nvSpPr>
        <p:spPr>
          <a:xfrm>
            <a:off x="199360" y="2712276"/>
            <a:ext cx="1479599" cy="665173"/>
          </a:xfrm>
          <a:prstGeom prst="rect">
            <a:avLst/>
          </a:prstGeom>
          <a:solidFill>
            <a:srgbClr val="B884AE">
              <a:alpha val="23922"/>
            </a:srgbClr>
          </a:solidFill>
          <a:ln>
            <a:solidFill>
              <a:srgbClr val="B57AC0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>
              <a:spcAft>
                <a:spcPts val="300"/>
              </a:spcAft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Participants removed as their neurological diagnosis could not be independently verified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CAC953-BC3E-8682-B5AB-410AD51353F6}"/>
              </a:ext>
            </a:extLst>
          </p:cNvPr>
          <p:cNvSpPr txBox="1"/>
          <p:nvPr/>
        </p:nvSpPr>
        <p:spPr>
          <a:xfrm>
            <a:off x="3276661" y="1316249"/>
            <a:ext cx="1479600" cy="664646"/>
          </a:xfrm>
          <a:prstGeom prst="rect">
            <a:avLst/>
          </a:prstGeom>
          <a:solidFill>
            <a:srgbClr val="B884AE">
              <a:alpha val="23922"/>
            </a:srgbClr>
          </a:solidFill>
          <a:ln>
            <a:solidFill>
              <a:srgbClr val="B57AC0"/>
            </a:solidFill>
          </a:ln>
        </p:spPr>
        <p:txBody>
          <a:bodyPr wrap="square" lIns="36000" tIns="36000" rIns="36000" bIns="36000">
            <a:noAutofit/>
          </a:bodyPr>
          <a:lstStyle/>
          <a:p>
            <a:pPr algn="ctr">
              <a:spcAft>
                <a:spcPts val="300"/>
              </a:spcAft>
            </a:pP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324</a:t>
            </a:r>
          </a:p>
          <a:p>
            <a:pPr algn="ctr">
              <a:spcAft>
                <a:spcPts val="300"/>
              </a:spcAft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UPSIT booklets (40 items) were mailed to participants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D45A73-A911-23C5-F3C1-1774FC3A39E8}"/>
              </a:ext>
            </a:extLst>
          </p:cNvPr>
          <p:cNvSpPr txBox="1"/>
          <p:nvPr/>
        </p:nvSpPr>
        <p:spPr>
          <a:xfrm>
            <a:off x="199359" y="5511602"/>
            <a:ext cx="1479600" cy="5266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268</a:t>
            </a:r>
          </a:p>
          <a:p>
            <a:pPr algn="ctr"/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Subjects were </a:t>
            </a:r>
          </a:p>
          <a:p>
            <a:pPr algn="ctr">
              <a:spcAft>
                <a:spcPts val="300"/>
              </a:spcAft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re-contacted to participate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F2CB02-BF0D-8917-78D4-0E1AD87F85B1}"/>
              </a:ext>
            </a:extLst>
          </p:cNvPr>
          <p:cNvSpPr txBox="1"/>
          <p:nvPr/>
        </p:nvSpPr>
        <p:spPr>
          <a:xfrm>
            <a:off x="3272913" y="2261948"/>
            <a:ext cx="1479600" cy="526674"/>
          </a:xfrm>
          <a:prstGeom prst="rect">
            <a:avLst/>
          </a:prstGeom>
          <a:solidFill>
            <a:srgbClr val="B884AE">
              <a:alpha val="23922"/>
            </a:srgbClr>
          </a:solidFill>
          <a:ln>
            <a:solidFill>
              <a:srgbClr val="B57AC0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256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(79%)</a:t>
            </a:r>
          </a:p>
          <a:p>
            <a:pPr algn="ctr">
              <a:spcAft>
                <a:spcPts val="300"/>
              </a:spcAft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Participants completed and returned their UPSIT booklets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43F503-9512-3FB0-65F7-540F255AA996}"/>
              </a:ext>
            </a:extLst>
          </p:cNvPr>
          <p:cNvCxnSpPr>
            <a:cxnSpLocks/>
            <a:stCxn id="47" idx="2"/>
            <a:endCxn id="9" idx="0"/>
          </p:cNvCxnSpPr>
          <p:nvPr/>
        </p:nvCxnSpPr>
        <p:spPr>
          <a:xfrm flipH="1">
            <a:off x="4012713" y="1980895"/>
            <a:ext cx="3748" cy="281053"/>
          </a:xfrm>
          <a:prstGeom prst="straightConnector1">
            <a:avLst/>
          </a:prstGeom>
          <a:ln w="12700">
            <a:solidFill>
              <a:srgbClr val="B67A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C2BBCC8-F8F0-1F93-EA9D-2431F80D8F56}"/>
              </a:ext>
            </a:extLst>
          </p:cNvPr>
          <p:cNvSpPr txBox="1"/>
          <p:nvPr/>
        </p:nvSpPr>
        <p:spPr>
          <a:xfrm>
            <a:off x="3266509" y="6183060"/>
            <a:ext cx="1479600" cy="5266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166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(79.8%)</a:t>
            </a:r>
            <a:endParaRPr lang="en-US" sz="9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Participants completed the</a:t>
            </a:r>
          </a:p>
          <a:p>
            <a:pPr algn="ctr">
              <a:spcAft>
                <a:spcPts val="300"/>
              </a:spcAft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8-scent smell test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E58B9A-BF55-1F61-387E-8AA15D762E5D}"/>
              </a:ext>
            </a:extLst>
          </p:cNvPr>
          <p:cNvCxnSpPr>
            <a:cxnSpLocks/>
          </p:cNvCxnSpPr>
          <p:nvPr/>
        </p:nvCxnSpPr>
        <p:spPr>
          <a:xfrm flipH="1">
            <a:off x="4010019" y="6041413"/>
            <a:ext cx="908" cy="14164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CF9293-08C7-8068-0B80-23EAF73CE5DE}"/>
              </a:ext>
            </a:extLst>
          </p:cNvPr>
          <p:cNvSpPr txBox="1"/>
          <p:nvPr/>
        </p:nvSpPr>
        <p:spPr>
          <a:xfrm>
            <a:off x="202241" y="6183060"/>
            <a:ext cx="1479600" cy="5266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lIns="36000" tIns="36000" rIns="36000" bIns="3600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208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(77.6%)</a:t>
            </a:r>
            <a:endParaRPr lang="en-US" sz="9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Participants agreed to continue with phase II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107F3A-0E51-29D0-58EA-8D5AFE581E4D}"/>
              </a:ext>
            </a:extLst>
          </p:cNvPr>
          <p:cNvCxnSpPr>
            <a:cxnSpLocks/>
          </p:cNvCxnSpPr>
          <p:nvPr/>
        </p:nvCxnSpPr>
        <p:spPr>
          <a:xfrm flipH="1">
            <a:off x="945751" y="6041413"/>
            <a:ext cx="908" cy="14164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1F4FABF-2278-5D73-8F4D-C42B0353479C}"/>
              </a:ext>
            </a:extLst>
          </p:cNvPr>
          <p:cNvSpPr txBox="1"/>
          <p:nvPr/>
        </p:nvSpPr>
        <p:spPr>
          <a:xfrm rot="5400000" flipH="1">
            <a:off x="3032226" y="3583273"/>
            <a:ext cx="7029004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kern="1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163 </a:t>
            </a:r>
            <a:r>
              <a:rPr lang="en-US" sz="1200" kern="1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participants completed all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assessments in phases I &amp; II</a:t>
            </a:r>
            <a:endParaRPr lang="en-US" sz="1200" kern="12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67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35883</TotalTime>
  <Words>253</Words>
  <Application>Microsoft Macintosh PowerPoint</Application>
  <PresentationFormat>A4 Paper (210x297 mm)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Nathalie Lengacher</dc:creator>
  <cp:lastModifiedBy>Juan Li</cp:lastModifiedBy>
  <cp:revision>2292</cp:revision>
  <dcterms:created xsi:type="dcterms:W3CDTF">2020-09-23T20:50:42Z</dcterms:created>
  <dcterms:modified xsi:type="dcterms:W3CDTF">2026-04-01T14:28:56Z</dcterms:modified>
</cp:coreProperties>
</file>