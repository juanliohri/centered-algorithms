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728"/>
  </p:normalViewPr>
  <p:slideViewPr>
    <p:cSldViewPr snapToGrid="0">
      <p:cViewPr varScale="1">
        <p:scale>
          <a:sx n="88" d="100"/>
          <a:sy n="88" d="100"/>
        </p:scale>
        <p:origin x="18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34B27-7B89-A9BD-9C87-788416910C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6FDED9-7735-F9B7-9EA9-078A1A1BD9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09CEB-3531-989B-19AA-A8585F034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66FDD-F6A6-3C4A-8466-DF7F2344E2DE}" type="datetimeFigureOut">
              <a:rPr lang="en-US" smtClean="0"/>
              <a:t>8/10/22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F7EC1-4C10-36DA-A3C5-FA7AE3552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7AFC9-84D6-8192-6596-11201D02E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06C7F-AC89-D340-AABF-ACE5629EA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20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175FC-B116-0BA0-8A95-2D19ABBA4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4461B-947C-AD8E-B24A-2B042FC75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92428-90BE-78D6-185B-0D3A89575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66FDD-F6A6-3C4A-8466-DF7F2344E2DE}" type="datetimeFigureOut">
              <a:rPr lang="en-US" smtClean="0"/>
              <a:t>8/10/22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FA1C2-4CE4-4E89-284C-414C689D5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D3DD1-5F77-8B02-F652-4D938B233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06C7F-AC89-D340-AABF-ACE5629EA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868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BD3C-0993-323D-8E6D-83509DA47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E6914-5FE5-3866-1757-8167FFC60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AA515-C0B9-947B-5835-04953241F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66FDD-F6A6-3C4A-8466-DF7F2344E2DE}" type="datetimeFigureOut">
              <a:rPr lang="en-US" smtClean="0"/>
              <a:t>8/10/22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365F6-46C0-344C-1BDC-CBC8AD6E6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9D82C-E35A-2646-69D0-B97EF80D8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06C7F-AC89-D340-AABF-ACE5629EA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570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90E67-6133-FCC3-9542-5D038714F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644E4-A7A3-F9FA-0A81-A0C4BC69BC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07B993-7072-50EA-0666-56533F1A31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19837-46D3-A7E9-0AE3-C2A07BB61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66FDD-F6A6-3C4A-8466-DF7F2344E2DE}" type="datetimeFigureOut">
              <a:rPr lang="en-US" smtClean="0"/>
              <a:t>8/10/22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7DC78-D66D-B5D9-085F-1AA084990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F74F8-A2B4-A561-B38A-91081910D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06C7F-AC89-D340-AABF-ACE5629EA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770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D1534-F056-BDEF-2251-6606D5C57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F59FAA-6DCC-55AB-42A5-917AFD18A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C16130-6566-9742-91FD-5BE33EF90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CBEDAB-047E-04F7-5029-145744EFEE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22A140-2F72-D388-C7E1-39ADE84B3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003380-7B5E-28A5-D754-264B232A9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66FDD-F6A6-3C4A-8466-DF7F2344E2DE}" type="datetimeFigureOut">
              <a:rPr lang="en-US" smtClean="0"/>
              <a:t>8/10/22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9D727E-DB9D-8A49-0847-C9B1099FE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BA5D75-DBBF-7569-3FB8-31A327FCB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06C7F-AC89-D340-AABF-ACE5629EA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822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83D14-E349-883F-97D0-75C4B0481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EE4957-07EB-42AD-3058-1743C5D24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66FDD-F6A6-3C4A-8466-DF7F2344E2DE}" type="datetimeFigureOut">
              <a:rPr lang="en-US" smtClean="0"/>
              <a:t>8/10/22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D9443-B864-8706-A339-BFC42935D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F9C32-E00B-9A57-3140-AEB36A2F7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06C7F-AC89-D340-AABF-ACE5629EA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02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2D23BC-22E7-F4CE-B44A-32D417A24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66FDD-F6A6-3C4A-8466-DF7F2344E2DE}" type="datetimeFigureOut">
              <a:rPr lang="en-US" smtClean="0"/>
              <a:t>8/10/22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52A0EF-1EC6-B8D8-73A3-78536A159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5B7AB-997A-504E-CFC5-08EE30D2C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06C7F-AC89-D340-AABF-ACE5629EA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398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2B79B-FAE7-4FB7-47B2-1D74E0D46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A4281-D898-5A86-5C67-101461672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4A523A-7E81-9D6F-400B-3DAD82D2E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BAB34-62B7-DC31-D2EA-9BD771D4B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66FDD-F6A6-3C4A-8466-DF7F2344E2DE}" type="datetimeFigureOut">
              <a:rPr lang="en-US" smtClean="0"/>
              <a:t>8/10/22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ACEBB-42EC-C494-D4C7-3964E7F96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644218-8B4B-61C3-8B72-F5DEFD09A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06C7F-AC89-D340-AABF-ACE5629EA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88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759E-39E0-47CF-9D4E-7DB58704F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C48AD8-BDB5-1550-8A44-586126AAE8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B167CA-92E7-C89B-BB49-3C0AC9239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6CA3A-4464-8935-CFFB-97DAE5A20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66FDD-F6A6-3C4A-8466-DF7F2344E2DE}" type="datetimeFigureOut">
              <a:rPr lang="en-US" smtClean="0"/>
              <a:t>8/10/22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204598-3AFB-B383-849D-34746D89B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E86B7-34B7-2034-FD5B-6A60521BF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06C7F-AC89-D340-AABF-ACE5629EA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36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053C0-66FB-932C-12D1-EF990BDF4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B510CF-200D-C567-31BB-11B073F43E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EEC64-D899-D774-36EB-3B69B378D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66FDD-F6A6-3C4A-8466-DF7F2344E2DE}" type="datetimeFigureOut">
              <a:rPr lang="en-US" smtClean="0"/>
              <a:t>8/10/22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70116-E312-4357-3E82-006A5EA67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11001-CED1-C5F2-2B29-3DA2C0EFB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06C7F-AC89-D340-AABF-ACE5629EA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880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883F21-B24F-5EE6-DE3E-2BF86301AB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7143CD-07F6-A4CA-7948-FD7C17170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A777A-4578-ADD9-AA00-132D625EA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66FDD-F6A6-3C4A-8466-DF7F2344E2DE}" type="datetimeFigureOut">
              <a:rPr lang="en-US" smtClean="0"/>
              <a:t>8/10/22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634F0-6ACF-5BEC-A91A-84D2CE3D4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5B8D9-3F65-2EE7-6F50-F32EC7DCD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06C7F-AC89-D340-AABF-ACE5629EA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50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910E10-D431-F9C6-977F-B5844A929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645D1-8224-101F-195C-C4AE9EB39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F7F38-6A73-1ADD-0CDC-0744D66250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66FDD-F6A6-3C4A-8466-DF7F2344E2DE}" type="datetimeFigureOut">
              <a:rPr lang="en-US" smtClean="0"/>
              <a:t>8/10/22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E5A78-80DD-F083-43ED-5F79862D89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FC846-4D91-86A2-E170-CB6E711BC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6C7F-AC89-D340-AABF-ACE5629EA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56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5B6A0-E460-1C31-2134-35F501FA80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Calibration Plots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E57F2-E656-B535-77E4-23BE687692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2022-07-28</a:t>
            </a:r>
          </a:p>
        </p:txBody>
      </p:sp>
    </p:spTree>
    <p:extLst>
      <p:ext uri="{BB962C8B-B14F-4D97-AF65-F5344CB8AC3E}">
        <p14:creationId xmlns:p14="http://schemas.microsoft.com/office/powerpoint/2010/main" val="164621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3374B0-56BA-3408-4510-857B5287EDD8}"/>
              </a:ext>
            </a:extLst>
          </p:cNvPr>
          <p:cNvSpPr txBox="1"/>
          <p:nvPr/>
        </p:nvSpPr>
        <p:spPr>
          <a:xfrm>
            <a:off x="274319" y="1397725"/>
            <a:ext cx="1254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DeNoPa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3870FB-51C6-5AC2-9D8B-A816EEA3B947}"/>
              </a:ext>
            </a:extLst>
          </p:cNvPr>
          <p:cNvSpPr txBox="1"/>
          <p:nvPr/>
        </p:nvSpPr>
        <p:spPr>
          <a:xfrm>
            <a:off x="274319" y="4393959"/>
            <a:ext cx="14891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PPMI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B30869-BE0F-4172-B5CC-B92C7DE945C8}"/>
              </a:ext>
            </a:extLst>
          </p:cNvPr>
          <p:cNvSpPr txBox="1"/>
          <p:nvPr/>
        </p:nvSpPr>
        <p:spPr>
          <a:xfrm>
            <a:off x="3483428" y="436265"/>
            <a:ext cx="1254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Model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6BDA98-FD47-EF46-394F-9CACF405D3F6}"/>
              </a:ext>
            </a:extLst>
          </p:cNvPr>
          <p:cNvSpPr txBox="1"/>
          <p:nvPr/>
        </p:nvSpPr>
        <p:spPr>
          <a:xfrm>
            <a:off x="8726327" y="459005"/>
            <a:ext cx="1254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Model 1’</a:t>
            </a:r>
          </a:p>
        </p:txBody>
      </p:sp>
      <p:pic>
        <p:nvPicPr>
          <p:cNvPr id="10" name="Picture 9" descr="Chart&#10;&#10;Description automatically generated">
            <a:extLst>
              <a:ext uri="{FF2B5EF4-FFF2-40B4-BE49-F238E27FC236}">
                <a16:creationId xmlns:a16="http://schemas.microsoft.com/office/drawing/2014/main" id="{73472D35-63B2-AB64-5AEF-D33EDF6A5D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287"/>
          <a:stretch/>
        </p:blipFill>
        <p:spPr>
          <a:xfrm>
            <a:off x="1572234" y="859115"/>
            <a:ext cx="5076421" cy="2377441"/>
          </a:xfrm>
          <a:prstGeom prst="rect">
            <a:avLst/>
          </a:prstGeom>
        </p:spPr>
      </p:pic>
      <p:pic>
        <p:nvPicPr>
          <p:cNvPr id="12" name="Picture 11" descr="Chart, line chart&#10;&#10;Description automatically generated">
            <a:extLst>
              <a:ext uri="{FF2B5EF4-FFF2-40B4-BE49-F238E27FC236}">
                <a16:creationId xmlns:a16="http://schemas.microsoft.com/office/drawing/2014/main" id="{E789FC9E-8A8D-6CCA-AD85-A83ECD4E4D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1287"/>
          <a:stretch/>
        </p:blipFill>
        <p:spPr>
          <a:xfrm>
            <a:off x="6815135" y="836375"/>
            <a:ext cx="5076420" cy="2377442"/>
          </a:xfrm>
          <a:prstGeom prst="rect">
            <a:avLst/>
          </a:prstGeom>
        </p:spPr>
      </p:pic>
      <p:pic>
        <p:nvPicPr>
          <p:cNvPr id="13" name="Picture 12" descr="Chart, line chart&#10;&#10;Description automatically generated">
            <a:extLst>
              <a:ext uri="{FF2B5EF4-FFF2-40B4-BE49-F238E27FC236}">
                <a16:creationId xmlns:a16="http://schemas.microsoft.com/office/drawing/2014/main" id="{CA7C09C9-C65B-9BE8-2898-D73DCC12EDA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647"/>
          <a:stretch/>
        </p:blipFill>
        <p:spPr>
          <a:xfrm>
            <a:off x="1528354" y="3591703"/>
            <a:ext cx="4964626" cy="2403050"/>
          </a:xfrm>
          <a:prstGeom prst="rect">
            <a:avLst/>
          </a:prstGeom>
        </p:spPr>
      </p:pic>
      <p:pic>
        <p:nvPicPr>
          <p:cNvPr id="14" name="Picture 13" descr="Chart, line chart&#10;&#10;Description automatically generated">
            <a:extLst>
              <a:ext uri="{FF2B5EF4-FFF2-40B4-BE49-F238E27FC236}">
                <a16:creationId xmlns:a16="http://schemas.microsoft.com/office/drawing/2014/main" id="{853703CE-9A86-327F-E9ED-371A88C5F74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8630"/>
          <a:stretch/>
        </p:blipFill>
        <p:spPr>
          <a:xfrm>
            <a:off x="6827150" y="3591187"/>
            <a:ext cx="4964627" cy="2403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562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F644CDA6-F0EA-C861-3106-9A3CA91B39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678" r="4346" b="4025"/>
          <a:stretch/>
        </p:blipFill>
        <p:spPr>
          <a:xfrm>
            <a:off x="0" y="546651"/>
            <a:ext cx="12071529" cy="57646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E75DBF-F3DD-5561-A7B5-E8C4FEE6D36A}"/>
              </a:ext>
            </a:extLst>
          </p:cNvPr>
          <p:cNvSpPr txBox="1"/>
          <p:nvPr/>
        </p:nvSpPr>
        <p:spPr>
          <a:xfrm>
            <a:off x="2040835" y="3180210"/>
            <a:ext cx="940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i.e.</a:t>
            </a:r>
            <a:r>
              <a:rPr lang="en-US" sz="1600" dirty="0"/>
              <a:t>, ICI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D8BDA5-C6D5-572C-5E74-27214D0F9B1E}"/>
              </a:ext>
            </a:extLst>
          </p:cNvPr>
          <p:cNvSpPr/>
          <p:nvPr/>
        </p:nvSpPr>
        <p:spPr>
          <a:xfrm>
            <a:off x="1524000" y="3206714"/>
            <a:ext cx="2464904" cy="2487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B1B383-63A3-3586-5508-4F953B42D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826" y="2723598"/>
            <a:ext cx="3541796" cy="3385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D2AA38-6484-0919-B853-E72CA4310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826" y="3235857"/>
            <a:ext cx="2239664" cy="3906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75D90FC-BC6C-5C30-9F09-7D969825822B}"/>
              </a:ext>
            </a:extLst>
          </p:cNvPr>
          <p:cNvSpPr txBox="1"/>
          <p:nvPr/>
        </p:nvSpPr>
        <p:spPr>
          <a:xfrm>
            <a:off x="4294355" y="1445353"/>
            <a:ext cx="3603289" cy="58477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CA" sz="160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Statistics of the logistic regression model:</a:t>
            </a:r>
          </a:p>
          <a:p>
            <a:r>
              <a:rPr lang="en-CA" sz="160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`</a:t>
            </a:r>
            <a:r>
              <a:rPr lang="en-CA" sz="1600" i="0" dirty="0">
                <a:solidFill>
                  <a:srgbClr val="202124"/>
                </a:solidFill>
                <a:effectLst/>
                <a:latin typeface="+mj-lt"/>
                <a:cs typeface="Times New Roman" panose="02020603050405020304" pitchFamily="18" charset="0"/>
              </a:rPr>
              <a:t>fit </a:t>
            </a:r>
            <a:r>
              <a:rPr lang="en-CA" sz="1600" dirty="0">
                <a:solidFill>
                  <a:srgbClr val="202124"/>
                </a:solidFill>
                <a:latin typeface="+mj-lt"/>
                <a:cs typeface="Times New Roman" panose="02020603050405020304" pitchFamily="18" charset="0"/>
              </a:rPr>
              <a:t>&lt;- </a:t>
            </a:r>
            <a:r>
              <a:rPr lang="en-CA" sz="1600" dirty="0" err="1">
                <a:solidFill>
                  <a:srgbClr val="202124"/>
                </a:solidFill>
                <a:latin typeface="+mj-lt"/>
                <a:cs typeface="Times New Roman" panose="02020603050405020304" pitchFamily="18" charset="0"/>
              </a:rPr>
              <a:t>lrm</a:t>
            </a:r>
            <a:r>
              <a:rPr lang="en-CA" sz="1600" dirty="0">
                <a:solidFill>
                  <a:srgbClr val="202124"/>
                </a:solidFill>
                <a:latin typeface="+mj-lt"/>
                <a:cs typeface="Times New Roman" panose="02020603050405020304" pitchFamily="18" charset="0"/>
              </a:rPr>
              <a:t>(target ~ score, </a:t>
            </a:r>
            <a:r>
              <a:rPr lang="en-CA" sz="1600" dirty="0" err="1">
                <a:solidFill>
                  <a:srgbClr val="202124"/>
                </a:solidFill>
                <a:latin typeface="+mj-lt"/>
                <a:cs typeface="Times New Roman" panose="02020603050405020304" pitchFamily="18" charset="0"/>
              </a:rPr>
              <a:t>df</a:t>
            </a:r>
            <a:r>
              <a:rPr lang="en-CA" sz="1600" dirty="0">
                <a:solidFill>
                  <a:srgbClr val="202124"/>
                </a:solidFill>
                <a:latin typeface="+mj-lt"/>
                <a:cs typeface="Times New Roman" panose="02020603050405020304" pitchFamily="18" charset="0"/>
              </a:rPr>
              <a:t>)</a:t>
            </a:r>
            <a:r>
              <a:rPr lang="en-CA" sz="16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`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2E9CE93B-8ED5-663C-5A50-36BC4B4B065A}"/>
              </a:ext>
            </a:extLst>
          </p:cNvPr>
          <p:cNvSpPr/>
          <p:nvPr/>
        </p:nvSpPr>
        <p:spPr>
          <a:xfrm>
            <a:off x="3988904" y="954157"/>
            <a:ext cx="271006" cy="1338469"/>
          </a:xfrm>
          <a:prstGeom prst="rightBrac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FE2CA6-955A-48E3-AD11-78CADEB685E6}"/>
              </a:ext>
            </a:extLst>
          </p:cNvPr>
          <p:cNvSpPr txBox="1"/>
          <p:nvPr/>
        </p:nvSpPr>
        <p:spPr>
          <a:xfrm>
            <a:off x="1657171" y="3944160"/>
            <a:ext cx="3603289" cy="58477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CA" sz="16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CA" sz="16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Spiegelhalter</a:t>
            </a:r>
            <a:r>
              <a:rPr lang="en-CA" sz="16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Z-test for calibration accuracy, and its two-tailed P-value</a:t>
            </a:r>
            <a:endParaRPr lang="en-US" sz="1600" dirty="0">
              <a:solidFill>
                <a:srgbClr val="2021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1DA1F048-3B13-32F7-6E78-A22891A5469A}"/>
              </a:ext>
            </a:extLst>
          </p:cNvPr>
          <p:cNvSpPr/>
          <p:nvPr/>
        </p:nvSpPr>
        <p:spPr>
          <a:xfrm>
            <a:off x="3988904" y="2425669"/>
            <a:ext cx="273600" cy="1338469"/>
          </a:xfrm>
          <a:prstGeom prst="rightBrac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EBCFDC-C0E7-57E8-E8EA-7967B08EF1E0}"/>
              </a:ext>
            </a:extLst>
          </p:cNvPr>
          <p:cNvSpPr txBox="1"/>
          <p:nvPr/>
        </p:nvSpPr>
        <p:spPr>
          <a:xfrm>
            <a:off x="4294355" y="2802515"/>
            <a:ext cx="2079941" cy="58477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CA" sz="16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statistics for </a:t>
            </a:r>
          </a:p>
          <a:p>
            <a:r>
              <a:rPr lang="en-CA" sz="16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calibration.</a:t>
            </a:r>
            <a:endParaRPr lang="en-US" sz="1600" dirty="0">
              <a:solidFill>
                <a:srgbClr val="2021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801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50</Words>
  <Application>Microsoft Macintosh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Calibration Plots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Calibration Plots</dc:title>
  <dc:creator>Juan Li</dc:creator>
  <cp:lastModifiedBy>Juan Li</cp:lastModifiedBy>
  <cp:revision>8</cp:revision>
  <dcterms:created xsi:type="dcterms:W3CDTF">2022-07-28T23:17:18Z</dcterms:created>
  <dcterms:modified xsi:type="dcterms:W3CDTF">2022-08-10T14:09:11Z</dcterms:modified>
</cp:coreProperties>
</file>